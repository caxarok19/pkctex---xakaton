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9144000" cy="51435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hzkTnsYB3mAta5WOXjIvZqETP1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583de3bb2_0_4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583de3bb2_0_4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583de3bb2_0_5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583de3bb2_0_5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583de3bb2_0_6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583de3bb2_0_6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583de3bb2_0_7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583de3bb2_0_7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583de3bb2_0_10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583de3bb2_0_10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583de3bb2_0_11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d583de3bb2_0_11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583de3bb2_0_11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d583de3bb2_0_11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583de3bb2_0_14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d583de3bb2_0_14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 txBox="1"/>
          <p:nvPr>
            <p:ph type="title"/>
          </p:nvPr>
        </p:nvSpPr>
        <p:spPr>
          <a:xfrm>
            <a:off x="384725" y="505248"/>
            <a:ext cx="37871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" type="body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2"/>
          <p:cNvSpPr/>
          <p:nvPr/>
        </p:nvSpPr>
        <p:spPr>
          <a:xfrm>
            <a:off x="714300" y="1275174"/>
            <a:ext cx="7715884" cy="2273300"/>
          </a:xfrm>
          <a:custGeom>
            <a:rect b="b" l="l" r="r" t="t"/>
            <a:pathLst>
              <a:path extrusionOk="0" h="2273300" w="7715884">
                <a:moveTo>
                  <a:pt x="0" y="284099"/>
                </a:moveTo>
                <a:lnTo>
                  <a:pt x="3718" y="238017"/>
                </a:lnTo>
                <a:lnTo>
                  <a:pt x="14483" y="194302"/>
                </a:lnTo>
                <a:lnTo>
                  <a:pt x="31710" y="153539"/>
                </a:lnTo>
                <a:lnTo>
                  <a:pt x="54814" y="116314"/>
                </a:lnTo>
                <a:lnTo>
                  <a:pt x="83210" y="83210"/>
                </a:lnTo>
                <a:lnTo>
                  <a:pt x="116314" y="54814"/>
                </a:lnTo>
                <a:lnTo>
                  <a:pt x="153539" y="31710"/>
                </a:lnTo>
                <a:lnTo>
                  <a:pt x="194302" y="14483"/>
                </a:lnTo>
                <a:lnTo>
                  <a:pt x="238017" y="3718"/>
                </a:lnTo>
                <a:lnTo>
                  <a:pt x="284099" y="0"/>
                </a:lnTo>
                <a:lnTo>
                  <a:pt x="7431299" y="0"/>
                </a:lnTo>
                <a:lnTo>
                  <a:pt x="7476011" y="3539"/>
                </a:lnTo>
                <a:lnTo>
                  <a:pt x="7519218" y="13945"/>
                </a:lnTo>
                <a:lnTo>
                  <a:pt x="7560159" y="30904"/>
                </a:lnTo>
                <a:lnTo>
                  <a:pt x="7598070" y="54097"/>
                </a:lnTo>
                <a:lnTo>
                  <a:pt x="7632188" y="83210"/>
                </a:lnTo>
                <a:lnTo>
                  <a:pt x="7661302" y="117329"/>
                </a:lnTo>
                <a:lnTo>
                  <a:pt x="7684495" y="155240"/>
                </a:lnTo>
                <a:lnTo>
                  <a:pt x="7701454" y="196181"/>
                </a:lnTo>
                <a:lnTo>
                  <a:pt x="7711860" y="239388"/>
                </a:lnTo>
                <a:lnTo>
                  <a:pt x="7715399" y="284099"/>
                </a:lnTo>
                <a:lnTo>
                  <a:pt x="7715399" y="1988699"/>
                </a:lnTo>
                <a:lnTo>
                  <a:pt x="7711681" y="2034782"/>
                </a:lnTo>
                <a:lnTo>
                  <a:pt x="7700916" y="2078497"/>
                </a:lnTo>
                <a:lnTo>
                  <a:pt x="7683689" y="2119260"/>
                </a:lnTo>
                <a:lnTo>
                  <a:pt x="7660585" y="2156485"/>
                </a:lnTo>
                <a:lnTo>
                  <a:pt x="7632188" y="2189588"/>
                </a:lnTo>
                <a:lnTo>
                  <a:pt x="7599085" y="2217985"/>
                </a:lnTo>
                <a:lnTo>
                  <a:pt x="7561860" y="2241089"/>
                </a:lnTo>
                <a:lnTo>
                  <a:pt x="7521097" y="2258316"/>
                </a:lnTo>
                <a:lnTo>
                  <a:pt x="7477382" y="2269081"/>
                </a:lnTo>
                <a:lnTo>
                  <a:pt x="7431299" y="2272799"/>
                </a:lnTo>
                <a:lnTo>
                  <a:pt x="284099" y="2272799"/>
                </a:lnTo>
                <a:lnTo>
                  <a:pt x="238017" y="2269081"/>
                </a:lnTo>
                <a:lnTo>
                  <a:pt x="194302" y="2258316"/>
                </a:lnTo>
                <a:lnTo>
                  <a:pt x="153539" y="2241089"/>
                </a:lnTo>
                <a:lnTo>
                  <a:pt x="116314" y="2217985"/>
                </a:lnTo>
                <a:lnTo>
                  <a:pt x="83210" y="2189588"/>
                </a:lnTo>
                <a:lnTo>
                  <a:pt x="54814" y="2156485"/>
                </a:lnTo>
                <a:lnTo>
                  <a:pt x="31710" y="2119260"/>
                </a:lnTo>
                <a:lnTo>
                  <a:pt x="14483" y="2078497"/>
                </a:lnTo>
                <a:lnTo>
                  <a:pt x="3718" y="2034782"/>
                </a:lnTo>
                <a:lnTo>
                  <a:pt x="0" y="1988699"/>
                </a:lnTo>
                <a:lnTo>
                  <a:pt x="0" y="28409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2"/>
          <p:cNvSpPr txBox="1"/>
          <p:nvPr>
            <p:ph type="title"/>
          </p:nvPr>
        </p:nvSpPr>
        <p:spPr>
          <a:xfrm>
            <a:off x="384725" y="505248"/>
            <a:ext cx="37871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ctrTitle"/>
          </p:nvPr>
        </p:nvSpPr>
        <p:spPr>
          <a:xfrm>
            <a:off x="384725" y="505248"/>
            <a:ext cx="399478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title"/>
          </p:nvPr>
        </p:nvSpPr>
        <p:spPr>
          <a:xfrm>
            <a:off x="384725" y="505248"/>
            <a:ext cx="37871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791200" y="2935989"/>
            <a:ext cx="3352800" cy="220751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0"/>
          <p:cNvSpPr txBox="1"/>
          <p:nvPr>
            <p:ph type="title"/>
          </p:nvPr>
        </p:nvSpPr>
        <p:spPr>
          <a:xfrm>
            <a:off x="384725" y="505248"/>
            <a:ext cx="378714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0"/>
          <p:cNvSpPr txBox="1"/>
          <p:nvPr>
            <p:ph idx="1" type="body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4.png"/><Relationship Id="rId8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/>
          <p:nvPr>
            <p:ph type="title"/>
          </p:nvPr>
        </p:nvSpPr>
        <p:spPr>
          <a:xfrm>
            <a:off x="659250" y="1845350"/>
            <a:ext cx="78255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680">
                <a:solidFill>
                  <a:schemeClr val="lt1"/>
                </a:solidFill>
              </a:rPr>
              <a:t>Аналитика выкупа (Data Analytics)</a:t>
            </a:r>
            <a:endParaRPr sz="5200">
              <a:solidFill>
                <a:srgbClr val="FFFFFF"/>
              </a:solidFill>
            </a:endParaRPr>
          </a:p>
          <a:p>
            <a:pPr indent="0" lvl="0" marL="1905" rtl="0" algn="ctr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</a:rPr>
              <a:t>Артрейд</a:t>
            </a:r>
            <a:endParaRPr sz="2800"/>
          </a:p>
        </p:txBody>
      </p:sp>
      <p:sp>
        <p:nvSpPr>
          <p:cNvPr id="47" name="Google Shape;47;p2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596" y="1250483"/>
            <a:ext cx="1439826" cy="152843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 txBox="1"/>
          <p:nvPr>
            <p:ph type="title"/>
          </p:nvPr>
        </p:nvSpPr>
        <p:spPr>
          <a:xfrm>
            <a:off x="384725" y="505248"/>
            <a:ext cx="37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РКСТех</a:t>
            </a:r>
            <a:endParaRPr/>
          </a:p>
        </p:txBody>
      </p:sp>
      <p:pic>
        <p:nvPicPr>
          <p:cNvPr id="54" name="Google Shape;5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6764" y="1250483"/>
            <a:ext cx="1439826" cy="1528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908" y="1362126"/>
            <a:ext cx="1476745" cy="1476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21706" y="1250473"/>
            <a:ext cx="1439827" cy="141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32113" y="1369497"/>
            <a:ext cx="1461977" cy="1461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9833" y="1250483"/>
            <a:ext cx="1439826" cy="1528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3"/>
          <p:cNvPicPr preferRelativeResize="0"/>
          <p:nvPr/>
        </p:nvPicPr>
        <p:blipFill rotWithShape="1">
          <a:blip r:embed="rId7">
            <a:alphaModFix/>
          </a:blip>
          <a:srcRect b="20709" l="21088" r="13278" t="28855"/>
          <a:stretch/>
        </p:blipFill>
        <p:spPr>
          <a:xfrm>
            <a:off x="2674507" y="1363536"/>
            <a:ext cx="1439700" cy="1473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60" name="Google Shape;60;p3"/>
          <p:cNvPicPr preferRelativeResize="0"/>
          <p:nvPr/>
        </p:nvPicPr>
        <p:blipFill rotWithShape="1">
          <a:blip r:embed="rId8">
            <a:alphaModFix/>
          </a:blip>
          <a:srcRect b="34968" l="8833" r="7993" t="0"/>
          <a:stretch/>
        </p:blipFill>
        <p:spPr>
          <a:xfrm>
            <a:off x="5022060" y="1369524"/>
            <a:ext cx="1402200" cy="1461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61" name="Google Shape;61;p3"/>
          <p:cNvSpPr txBox="1"/>
          <p:nvPr/>
        </p:nvSpPr>
        <p:spPr>
          <a:xfrm>
            <a:off x="215713" y="3123944"/>
            <a:ext cx="18408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70875" lIns="70875" spcFirstLastPara="1" rIns="70875" wrap="square" tIns="7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5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Мясникова Алина Игоревна</a:t>
            </a:r>
            <a:endParaRPr sz="1395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5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8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Капитан / Product Manager</a:t>
            </a:r>
            <a:endParaRPr sz="1008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8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Финансовый аналитик</a:t>
            </a:r>
            <a:endParaRPr sz="1008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5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2516376" y="3123944"/>
            <a:ext cx="18408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70875" lIns="70875" spcFirstLastPara="1" rIns="70875" wrap="square" tIns="7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5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Шувайникова Татьяна Петровна</a:t>
            </a:r>
            <a:endParaRPr sz="1395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5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8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Аналитик данных</a:t>
            </a:r>
            <a:endParaRPr sz="1008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5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5008901" y="3123944"/>
            <a:ext cx="18408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70875" lIns="70875" spcFirstLastPara="1" rIns="70875" wrap="square" tIns="7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5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Монсевич Елена Владимировна</a:t>
            </a:r>
            <a:endParaRPr sz="1395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5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8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Data Scientist</a:t>
            </a:r>
            <a:r>
              <a:rPr lang="en-US" sz="1008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 / ML-инженерr</a:t>
            </a:r>
            <a:endParaRPr sz="1008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5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7303188" y="3123944"/>
            <a:ext cx="18408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70875" lIns="70875" spcFirstLastPara="1" rIns="70875" wrap="square" tIns="70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5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Сабиров Матвей Русланович</a:t>
            </a:r>
            <a:endParaRPr sz="1395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5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8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Аналитик данных</a:t>
            </a:r>
            <a:endParaRPr sz="1008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5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3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/>
          <p:nvPr>
            <p:ph type="ctrTitle"/>
          </p:nvPr>
        </p:nvSpPr>
        <p:spPr>
          <a:xfrm>
            <a:off x="140650" y="152775"/>
            <a:ext cx="5936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Бизнес-проблема: Финансовая уязвимость модели постоплаты</a:t>
            </a:r>
            <a:endParaRPr/>
          </a:p>
        </p:txBody>
      </p:sp>
      <p:pic>
        <p:nvPicPr>
          <p:cNvPr id="71" name="Google Shape;71;p4" title="2026-04-12_10-20-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26125"/>
            <a:ext cx="5495024" cy="40173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4"/>
          <p:cNvSpPr txBox="1"/>
          <p:nvPr/>
        </p:nvSpPr>
        <p:spPr>
          <a:xfrm>
            <a:off x="5905525" y="355950"/>
            <a:ext cx="30705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Непрозрачность</a:t>
            </a:r>
            <a:endParaRPr b="1"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Нет связи между отказами и конкретными регионами, тарифами или менеджерами.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5863525" y="1745413"/>
            <a:ext cx="31545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Непрогнозируемый денежный поток</a:t>
            </a:r>
            <a:endParaRPr b="1"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Размытая динамика оплат блокирует точное финансовое планирование.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5905525" y="3342775"/>
            <a:ext cx="32424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Главная задача</a:t>
            </a:r>
            <a:endParaRPr b="1" sz="16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Перейти от интуитивного управления логистикой к Data-Driven подходу на базе прогнозирования</a:t>
            </a: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863525" y="274650"/>
            <a:ext cx="3070500" cy="1278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5863525" y="1768077"/>
            <a:ext cx="3070500" cy="1402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863525" y="3385700"/>
            <a:ext cx="3070500" cy="1344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/>
          <p:nvPr/>
        </p:nvSpPr>
        <p:spPr>
          <a:xfrm>
            <a:off x="6066563" y="947513"/>
            <a:ext cx="2844900" cy="33462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121338" y="947513"/>
            <a:ext cx="2707200" cy="33462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76113" y="947513"/>
            <a:ext cx="2707200" cy="334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5"/>
          <p:cNvSpPr txBox="1"/>
          <p:nvPr>
            <p:ph type="title"/>
          </p:nvPr>
        </p:nvSpPr>
        <p:spPr>
          <a:xfrm>
            <a:off x="317075" y="267150"/>
            <a:ext cx="143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</a:t>
            </a:r>
            <a:r>
              <a:rPr lang="en-US"/>
              <a:t>ешение </a:t>
            </a:r>
            <a:endParaRPr/>
          </a:p>
        </p:txBody>
      </p:sp>
      <p:sp>
        <p:nvSpPr>
          <p:cNvPr id="87" name="Google Shape;87;p5"/>
          <p:cNvSpPr txBox="1"/>
          <p:nvPr/>
        </p:nvSpPr>
        <p:spPr>
          <a:xfrm>
            <a:off x="345263" y="1091613"/>
            <a:ext cx="22560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Шаг 1:</a:t>
            </a:r>
            <a:br>
              <a:rPr lang="en-US" sz="1600">
                <a:latin typeface="Roboto"/>
                <a:ea typeface="Roboto"/>
                <a:cs typeface="Roboto"/>
                <a:sym typeface="Roboto"/>
              </a:rPr>
            </a:b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Анализ исторических данных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3303963" y="1091763"/>
            <a:ext cx="23418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Шаг 2:</a:t>
            </a:r>
            <a:br>
              <a:rPr lang="en-US" sz="1600">
                <a:latin typeface="Roboto"/>
                <a:ea typeface="Roboto"/>
                <a:cs typeface="Roboto"/>
                <a:sym typeface="Roboto"/>
              </a:rPr>
            </a:b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ML-прогнозирование выкупа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6145763" y="1091613"/>
            <a:ext cx="27657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Шаг 3:</a:t>
            </a:r>
            <a:br>
              <a:rPr lang="en-US" sz="1600">
                <a:latin typeface="Roboto"/>
                <a:ea typeface="Roboto"/>
                <a:cs typeface="Roboto"/>
                <a:sym typeface="Roboto"/>
              </a:rPr>
            </a:b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Оценка и маршрутизация убытков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345263" y="2244563"/>
            <a:ext cx="2256000" cy="17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Выявление скрытых закономерностей и расчет горизонта стабилизации выкупа.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3304025" y="2244713"/>
            <a:ext cx="2341800" cy="17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CatBoost классификатор для оценки вероятности выкупа в момент оформления корзтины.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6145888" y="2244563"/>
            <a:ext cx="2765700" cy="17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Оцифровка убытков и  маршрутизация проблемных зон по регионам, менеджерам и службам доставки</a:t>
            </a: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364088" y="1129213"/>
            <a:ext cx="2341800" cy="939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45263" y="2244713"/>
            <a:ext cx="2400000" cy="1806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304038" y="1129213"/>
            <a:ext cx="2341800" cy="939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3274938" y="2244713"/>
            <a:ext cx="2400000" cy="1806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204613" y="2244713"/>
            <a:ext cx="2606700" cy="1806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204613" y="1129213"/>
            <a:ext cx="2606700" cy="939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5"/>
          <p:cNvSpPr txBox="1"/>
          <p:nvPr>
            <p:ph idx="12" type="sldNum"/>
          </p:nvPr>
        </p:nvSpPr>
        <p:spPr>
          <a:xfrm>
            <a:off x="6583680" y="4783455"/>
            <a:ext cx="21030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600"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232488" y="4346975"/>
            <a:ext cx="87354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Итог - инструмент предиктивного контроля, минимизирующий логистические потери. 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2884699" y="2171425"/>
            <a:ext cx="250800" cy="589200"/>
          </a:xfrm>
          <a:prstGeom prst="chevron">
            <a:avLst>
              <a:gd fmla="val 50000" name="adj"/>
            </a:avLst>
          </a:prstGeom>
          <a:solidFill>
            <a:srgbClr val="F4CCCC"/>
          </a:solidFill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828538" y="2171425"/>
            <a:ext cx="250800" cy="589200"/>
          </a:xfrm>
          <a:prstGeom prst="chevron">
            <a:avLst>
              <a:gd fmla="val 50000" name="adj"/>
            </a:avLst>
          </a:prstGeom>
          <a:solidFill>
            <a:srgbClr val="F4CCCC"/>
          </a:solidFill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318963" y="2903000"/>
            <a:ext cx="4304700" cy="1005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 txBox="1"/>
          <p:nvPr>
            <p:ph type="title"/>
          </p:nvPr>
        </p:nvSpPr>
        <p:spPr>
          <a:xfrm>
            <a:off x="309550" y="120700"/>
            <a:ext cx="79773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Техническая реализация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Шаг 0: Очистка и селекция признаков</a:t>
            </a:r>
            <a:endParaRPr/>
          </a:p>
        </p:txBody>
      </p:sp>
      <p:sp>
        <p:nvSpPr>
          <p:cNvPr id="109" name="Google Shape;109;p6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3150" y="905788"/>
            <a:ext cx="4152901" cy="383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 txBox="1"/>
          <p:nvPr/>
        </p:nvSpPr>
        <p:spPr>
          <a:xfrm>
            <a:off x="5153975" y="4651800"/>
            <a:ext cx="333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Взаимная корреляционная матрица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293750" y="3950700"/>
            <a:ext cx="4367700" cy="9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Стек технологий используемный при решении кейса</a:t>
            </a:r>
            <a:endParaRPr b="1" sz="17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Python(Pandas, Datatime, Seaborn, Matplotlib, </a:t>
            </a: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Scikit-learn</a:t>
            </a: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, Numpy, CatBoots Classifier) 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309550" y="1018050"/>
            <a:ext cx="4304700" cy="9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Препроцессинг</a:t>
            </a:r>
            <a:endParaRPr b="1" sz="17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Очистка сырого датасета от пропусков, выбросов и дубликатов.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306413" y="1910496"/>
            <a:ext cx="4304700" cy="9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Снижение размерности</a:t>
            </a:r>
            <a:endParaRPr b="1" sz="17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Сокращение неинформативных столбцов с 191 до 93 ключевых признаков</a:t>
            </a: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325238" y="2841050"/>
            <a:ext cx="43047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Конструирование признаков</a:t>
            </a:r>
            <a:endParaRPr b="1" sz="17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Ф</a:t>
            </a: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ормализация</a:t>
            </a: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 категориальных</a:t>
            </a: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 признаков в числ</a:t>
            </a: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овые</a:t>
            </a: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 значения, составление расшифровки значений.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315825" y="1070300"/>
            <a:ext cx="4304700" cy="785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312688" y="1979188"/>
            <a:ext cx="4304700" cy="785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300025" y="4064375"/>
            <a:ext cx="4304700" cy="950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583de3bb2_0_46"/>
          <p:cNvSpPr txBox="1"/>
          <p:nvPr>
            <p:ph type="title"/>
          </p:nvPr>
        </p:nvSpPr>
        <p:spPr>
          <a:xfrm>
            <a:off x="359325" y="251248"/>
            <a:ext cx="37872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Шаг 1: Когортный анализ</a:t>
            </a:r>
            <a:endParaRPr/>
          </a:p>
        </p:txBody>
      </p:sp>
      <p:sp>
        <p:nvSpPr>
          <p:cNvPr id="124" name="Google Shape;124;g3d583de3bb2_0_46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5" name="Google Shape;125;g3d583de3bb2_0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350" y="764400"/>
            <a:ext cx="7492999" cy="4222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583de3bb2_0_55"/>
          <p:cNvSpPr/>
          <p:nvPr/>
        </p:nvSpPr>
        <p:spPr>
          <a:xfrm>
            <a:off x="6473550" y="1236975"/>
            <a:ext cx="2568600" cy="2690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d583de3bb2_0_55"/>
          <p:cNvSpPr txBox="1"/>
          <p:nvPr>
            <p:ph type="title"/>
          </p:nvPr>
        </p:nvSpPr>
        <p:spPr>
          <a:xfrm>
            <a:off x="359650" y="267123"/>
            <a:ext cx="37872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Шаг 1: Когортный анализ</a:t>
            </a:r>
            <a:endParaRPr/>
          </a:p>
        </p:txBody>
      </p:sp>
      <p:sp>
        <p:nvSpPr>
          <p:cNvPr id="132" name="Google Shape;132;g3d583de3bb2_0_55"/>
          <p:cNvSpPr txBox="1"/>
          <p:nvPr>
            <p:ph idx="1" type="body"/>
          </p:nvPr>
        </p:nvSpPr>
        <p:spPr>
          <a:xfrm>
            <a:off x="6583675" y="1347950"/>
            <a:ext cx="2458500" cy="24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           </a:t>
            </a:r>
            <a:r>
              <a:rPr b="1" lang="en-US" sz="19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 b="1" sz="19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lang="en-US" sz="1700">
                <a:latin typeface="Roboto"/>
                <a:ea typeface="Roboto"/>
                <a:cs typeface="Roboto"/>
                <a:sym typeface="Roboto"/>
              </a:rPr>
              <a:t>К 20-му дню в среднем выкупается 96.9 % заказов.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oboto"/>
                <a:ea typeface="Roboto"/>
                <a:cs typeface="Roboto"/>
                <a:sym typeface="Roboto"/>
              </a:rPr>
              <a:t>2. Основная доля выкупов приходится на первые 10-14 дней.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g3d583de3bb2_0_55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4" name="Google Shape;134;g3d583de3bb2_0_55"/>
          <p:cNvPicPr preferRelativeResize="0"/>
          <p:nvPr/>
        </p:nvPicPr>
        <p:blipFill rotWithShape="1">
          <a:blip r:embed="rId3">
            <a:alphaModFix/>
          </a:blip>
          <a:srcRect b="0" l="0" r="3026" t="0"/>
          <a:stretch/>
        </p:blipFill>
        <p:spPr>
          <a:xfrm>
            <a:off x="167650" y="906775"/>
            <a:ext cx="6251699" cy="3876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g3d583de3bb2_0_55"/>
          <p:cNvCxnSpPr/>
          <p:nvPr/>
        </p:nvCxnSpPr>
        <p:spPr>
          <a:xfrm flipH="1" rot="10800000">
            <a:off x="6476550" y="1793500"/>
            <a:ext cx="2568600" cy="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583de3bb2_0_66"/>
          <p:cNvSpPr/>
          <p:nvPr/>
        </p:nvSpPr>
        <p:spPr>
          <a:xfrm>
            <a:off x="5303925" y="3489475"/>
            <a:ext cx="3759900" cy="1308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d583de3bb2_0_66"/>
          <p:cNvSpPr txBox="1"/>
          <p:nvPr>
            <p:ph type="title"/>
          </p:nvPr>
        </p:nvSpPr>
        <p:spPr>
          <a:xfrm>
            <a:off x="351450" y="329800"/>
            <a:ext cx="84411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Шаг 2: ML-модель прогнозирования отказов (CatBoost)</a:t>
            </a:r>
            <a:endParaRPr/>
          </a:p>
        </p:txBody>
      </p:sp>
      <p:sp>
        <p:nvSpPr>
          <p:cNvPr id="142" name="Google Shape;142;g3d583de3bb2_0_66"/>
          <p:cNvSpPr txBox="1"/>
          <p:nvPr>
            <p:ph idx="1" type="body"/>
          </p:nvPr>
        </p:nvSpPr>
        <p:spPr>
          <a:xfrm>
            <a:off x="5466725" y="980188"/>
            <a:ext cx="3508200" cy="7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Алгоритм</a:t>
            </a:r>
            <a:endParaRPr b="1" sz="17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oboto"/>
                <a:ea typeface="Roboto"/>
                <a:cs typeface="Roboto"/>
                <a:sym typeface="Roboto"/>
              </a:rPr>
              <a:t>CatBoostClassifier (300 итераций, auto_class_weights = ‘Balanced’)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g3d583de3bb2_0_66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g3d583de3bb2_0_66"/>
          <p:cNvSpPr txBox="1"/>
          <p:nvPr>
            <p:ph idx="1" type="body"/>
          </p:nvPr>
        </p:nvSpPr>
        <p:spPr>
          <a:xfrm>
            <a:off x="5466725" y="1973225"/>
            <a:ext cx="3508200" cy="13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Бизнес-инсайт №1 —  Лояльность</a:t>
            </a:r>
            <a:endParaRPr b="1" sz="17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oboto"/>
                <a:ea typeface="Roboto"/>
                <a:cs typeface="Roboto"/>
                <a:sym typeface="Roboto"/>
              </a:rPr>
              <a:t>contact_Число сделок - самый сильный предиктор. Повторные клиенты выкупают заказы почти со 100% вероятностью.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g3d583de3bb2_0_66"/>
          <p:cNvSpPr txBox="1"/>
          <p:nvPr>
            <p:ph idx="1" type="body"/>
          </p:nvPr>
        </p:nvSpPr>
        <p:spPr>
          <a:xfrm>
            <a:off x="5466725" y="3489463"/>
            <a:ext cx="3508200" cy="13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Бизнес-инсайт №2 —  Скорость</a:t>
            </a:r>
            <a:endParaRPr b="1" sz="1700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oboto"/>
                <a:ea typeface="Roboto"/>
                <a:cs typeface="Roboto"/>
                <a:sym typeface="Roboto"/>
              </a:rPr>
              <a:t>days_sale_to_handed — задержка передачи на доставку экспоненциально увеличивает риск отказа клиента.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g3d583de3bb2_0_66"/>
          <p:cNvSpPr/>
          <p:nvPr/>
        </p:nvSpPr>
        <p:spPr>
          <a:xfrm>
            <a:off x="5303925" y="980200"/>
            <a:ext cx="3759900" cy="785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d583de3bb2_0_66"/>
          <p:cNvSpPr/>
          <p:nvPr/>
        </p:nvSpPr>
        <p:spPr>
          <a:xfrm>
            <a:off x="5303925" y="1973225"/>
            <a:ext cx="3759900" cy="1308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g3d583de3bb2_0_66" title="2026-04-12_12-12-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875" y="980200"/>
            <a:ext cx="5093300" cy="3875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583de3bb2_0_74"/>
          <p:cNvSpPr txBox="1"/>
          <p:nvPr>
            <p:ph type="title"/>
          </p:nvPr>
        </p:nvSpPr>
        <p:spPr>
          <a:xfrm>
            <a:off x="211200" y="254600"/>
            <a:ext cx="8721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Оценка качества ML- модели: Поиск оптимального баланса</a:t>
            </a:r>
            <a:endParaRPr sz="2400"/>
          </a:p>
        </p:txBody>
      </p:sp>
      <p:sp>
        <p:nvSpPr>
          <p:cNvPr id="154" name="Google Shape;154;g3d583de3bb2_0_74"/>
          <p:cNvSpPr txBox="1"/>
          <p:nvPr>
            <p:ph idx="1" type="body"/>
          </p:nvPr>
        </p:nvSpPr>
        <p:spPr>
          <a:xfrm>
            <a:off x="5718275" y="1090900"/>
            <a:ext cx="31020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Precision-Recall кривая</a:t>
            </a:r>
            <a:endParaRPr b="1"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Accuracy(Точность): 0.65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ROC AUC: 0.72+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g3d583de3bb2_0_74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6" name="Google Shape;156;g3d583de3bb2_0_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200" y="944975"/>
            <a:ext cx="5318325" cy="402307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d583de3bb2_0_74"/>
          <p:cNvSpPr txBox="1"/>
          <p:nvPr/>
        </p:nvSpPr>
        <p:spPr>
          <a:xfrm>
            <a:off x="5629775" y="2156100"/>
            <a:ext cx="3279000" cy="24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Практика</a:t>
            </a:r>
            <a:b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 Threshould = 0.53  мы блокируем максимум заведомо отказных доставок (Recall=0.62), сохраняя приемлемую точность (Precision),  что математически минимизирует убытки. 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g3d583de3bb2_0_74"/>
          <p:cNvSpPr/>
          <p:nvPr/>
        </p:nvSpPr>
        <p:spPr>
          <a:xfrm>
            <a:off x="5587100" y="992850"/>
            <a:ext cx="3279000" cy="896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d583de3bb2_0_74"/>
          <p:cNvSpPr/>
          <p:nvPr/>
        </p:nvSpPr>
        <p:spPr>
          <a:xfrm>
            <a:off x="5592725" y="2123550"/>
            <a:ext cx="3279000" cy="224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/>
          <p:nvPr/>
        </p:nvSpPr>
        <p:spPr>
          <a:xfrm>
            <a:off x="92675" y="4262700"/>
            <a:ext cx="7787400" cy="708000"/>
          </a:xfrm>
          <a:prstGeom prst="rect">
            <a:avLst/>
          </a:prstGeom>
          <a:noFill/>
          <a:ln cap="flat" cmpd="sng" w="9525">
            <a:solidFill>
              <a:srgbClr val="022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371400" y="1201013"/>
            <a:ext cx="2705700" cy="27414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178700" y="1200938"/>
            <a:ext cx="2911500" cy="27414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92675" y="1201013"/>
            <a:ext cx="2772600" cy="27414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 txBox="1"/>
          <p:nvPr>
            <p:ph type="ctrTitle"/>
          </p:nvPr>
        </p:nvSpPr>
        <p:spPr>
          <a:xfrm>
            <a:off x="174475" y="350775"/>
            <a:ext cx="851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Шаг 3: Финансовая оценка потерь - цена слепых зон</a:t>
            </a:r>
            <a:endParaRPr/>
          </a:p>
        </p:txBody>
      </p:sp>
      <p:sp>
        <p:nvSpPr>
          <p:cNvPr id="169" name="Google Shape;169;p7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7"/>
          <p:cNvSpPr txBox="1"/>
          <p:nvPr/>
        </p:nvSpPr>
        <p:spPr>
          <a:xfrm>
            <a:off x="0" y="2771363"/>
            <a:ext cx="2911500" cy="1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Средний процент выкупа</a:t>
            </a:r>
            <a:endParaRPr b="1" sz="17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Базовая линия, относительно которой оценивается эффективность.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3109775" y="2771288"/>
            <a:ext cx="3017100" cy="1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Прямой убыток логистики</a:t>
            </a:r>
            <a:endParaRPr b="1" sz="17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Чистые потери на докставку товаров, от которых отказались (3 084 заказов).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6371400" y="2771363"/>
            <a:ext cx="2772600" cy="1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Упущенная выручка</a:t>
            </a:r>
            <a:endParaRPr b="1" sz="17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Потенциальные деньги, замороженные в невыкупах</a:t>
            </a: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796750" y="1757038"/>
            <a:ext cx="15189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Roboto"/>
                <a:ea typeface="Roboto"/>
                <a:cs typeface="Roboto"/>
                <a:sym typeface="Roboto"/>
              </a:rPr>
              <a:t>82,8 %</a:t>
            </a:r>
            <a:endParaRPr b="1" sz="3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3434200" y="1756963"/>
            <a:ext cx="24456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alibri"/>
                <a:ea typeface="Calibri"/>
                <a:cs typeface="Calibri"/>
                <a:sym typeface="Calibri"/>
              </a:rPr>
              <a:t>7 756 843 руб.</a:t>
            </a:r>
            <a:endParaRPr b="1" sz="2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6495000" y="1757038"/>
            <a:ext cx="25254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35 952 479</a:t>
            </a: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 руб.</a:t>
            </a:r>
            <a:endParaRPr b="1"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 txBox="1"/>
          <p:nvPr/>
        </p:nvSpPr>
        <p:spPr>
          <a:xfrm>
            <a:off x="92675" y="4287525"/>
            <a:ext cx="7787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oboto"/>
                <a:ea typeface="Roboto"/>
                <a:cs typeface="Roboto"/>
                <a:sym typeface="Roboto"/>
              </a:rPr>
              <a:t>Модель выявила, что 7.7 млн руб. прямых убытков распределены крайне неравномерно. Переходим к поиску аномалий.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583de3bb2_0_104"/>
          <p:cNvSpPr txBox="1"/>
          <p:nvPr>
            <p:ph type="title"/>
          </p:nvPr>
        </p:nvSpPr>
        <p:spPr>
          <a:xfrm>
            <a:off x="457200" y="373875"/>
            <a:ext cx="69090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Точечная локализация убытков: Менеджеры</a:t>
            </a:r>
            <a:endParaRPr/>
          </a:p>
        </p:txBody>
      </p:sp>
      <p:sp>
        <p:nvSpPr>
          <p:cNvPr id="182" name="Google Shape;182;g3d583de3bb2_0_104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3" name="Google Shape;183;g3d583de3bb2_0_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850" y="1033525"/>
            <a:ext cx="7585249" cy="395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583de3bb2_0_110"/>
          <p:cNvSpPr txBox="1"/>
          <p:nvPr>
            <p:ph type="title"/>
          </p:nvPr>
        </p:nvSpPr>
        <p:spPr>
          <a:xfrm>
            <a:off x="384000" y="341025"/>
            <a:ext cx="83760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Точечная локализация убытков: Доставка</a:t>
            </a:r>
            <a:endParaRPr/>
          </a:p>
        </p:txBody>
      </p:sp>
      <p:sp>
        <p:nvSpPr>
          <p:cNvPr id="189" name="Google Shape;189;g3d583de3bb2_0_110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0" name="Google Shape;190;g3d583de3bb2_0_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00" y="1183000"/>
            <a:ext cx="4589500" cy="338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d583de3bb2_0_1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300" y="1183000"/>
            <a:ext cx="4510699" cy="338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583de3bb2_0_116"/>
          <p:cNvSpPr txBox="1"/>
          <p:nvPr>
            <p:ph type="title"/>
          </p:nvPr>
        </p:nvSpPr>
        <p:spPr>
          <a:xfrm>
            <a:off x="362825" y="231550"/>
            <a:ext cx="7806900" cy="7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Л</a:t>
            </a:r>
            <a:r>
              <a:rPr lang="en-US"/>
              <a:t>окализация убытков: География(Регионы)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d583de3bb2_0_116"/>
          <p:cNvSpPr txBox="1"/>
          <p:nvPr>
            <p:ph idx="1" type="body"/>
          </p:nvPr>
        </p:nvSpPr>
        <p:spPr>
          <a:xfrm>
            <a:off x="457200" y="1183005"/>
            <a:ext cx="8229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g3d583de3bb2_0_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634" y="656225"/>
            <a:ext cx="8546741" cy="432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d583de3bb2_0_116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583de3bb2_0_143"/>
          <p:cNvSpPr/>
          <p:nvPr/>
        </p:nvSpPr>
        <p:spPr>
          <a:xfrm>
            <a:off x="6184075" y="3315625"/>
            <a:ext cx="2902200" cy="9636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d583de3bb2_0_143"/>
          <p:cNvSpPr/>
          <p:nvPr/>
        </p:nvSpPr>
        <p:spPr>
          <a:xfrm>
            <a:off x="6184075" y="2083288"/>
            <a:ext cx="2902200" cy="9636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d583de3bb2_0_143"/>
          <p:cNvSpPr/>
          <p:nvPr/>
        </p:nvSpPr>
        <p:spPr>
          <a:xfrm>
            <a:off x="6184075" y="965425"/>
            <a:ext cx="2902200" cy="9636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d583de3bb2_0_143"/>
          <p:cNvSpPr/>
          <p:nvPr/>
        </p:nvSpPr>
        <p:spPr>
          <a:xfrm>
            <a:off x="3209688" y="992825"/>
            <a:ext cx="2902200" cy="9636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d583de3bb2_0_143"/>
          <p:cNvSpPr/>
          <p:nvPr/>
        </p:nvSpPr>
        <p:spPr>
          <a:xfrm>
            <a:off x="235325" y="992825"/>
            <a:ext cx="2902200" cy="9636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d583de3bb2_0_143"/>
          <p:cNvSpPr txBox="1"/>
          <p:nvPr>
            <p:ph type="title"/>
          </p:nvPr>
        </p:nvSpPr>
        <p:spPr>
          <a:xfrm>
            <a:off x="384725" y="505248"/>
            <a:ext cx="37872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Гипотезы для бизнеса</a:t>
            </a:r>
            <a:endParaRPr/>
          </a:p>
        </p:txBody>
      </p:sp>
      <p:sp>
        <p:nvSpPr>
          <p:cNvPr id="210" name="Google Shape;210;g3d583de3bb2_0_143"/>
          <p:cNvSpPr txBox="1"/>
          <p:nvPr>
            <p:ph idx="1" type="body"/>
          </p:nvPr>
        </p:nvSpPr>
        <p:spPr>
          <a:xfrm>
            <a:off x="586013" y="1200925"/>
            <a:ext cx="22233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lang="en-US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Умная блокировка наложенного платежа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g3d583de3bb2_0_143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g3d583de3bb2_0_143"/>
          <p:cNvSpPr txBox="1"/>
          <p:nvPr>
            <p:ph idx="1" type="body"/>
          </p:nvPr>
        </p:nvSpPr>
        <p:spPr>
          <a:xfrm>
            <a:off x="3719663" y="1224975"/>
            <a:ext cx="22233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2. Скорость сборки и “выгорание” клиента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g3d583de3bb2_0_143"/>
          <p:cNvSpPr txBox="1"/>
          <p:nvPr>
            <p:ph idx="1" type="body"/>
          </p:nvPr>
        </p:nvSpPr>
        <p:spPr>
          <a:xfrm>
            <a:off x="6428349" y="1204275"/>
            <a:ext cx="25068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3. Ревизия логистических партнеров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g3d583de3bb2_0_143"/>
          <p:cNvSpPr txBox="1"/>
          <p:nvPr>
            <p:ph idx="1" type="body"/>
          </p:nvPr>
        </p:nvSpPr>
        <p:spPr>
          <a:xfrm>
            <a:off x="6599788" y="2318788"/>
            <a:ext cx="22233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4. Система мотивации персонала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g3d583de3bb2_0_143"/>
          <p:cNvSpPr txBox="1"/>
          <p:nvPr>
            <p:ph idx="1" type="body"/>
          </p:nvPr>
        </p:nvSpPr>
        <p:spPr>
          <a:xfrm>
            <a:off x="6350425" y="3643375"/>
            <a:ext cx="25068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5. Программа лояльности</a:t>
            </a:r>
            <a:endParaRPr sz="160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6" name="Google Shape;216;g3d583de3bb2_0_143"/>
          <p:cNvPicPr preferRelativeResize="0"/>
          <p:nvPr/>
        </p:nvPicPr>
        <p:blipFill rotWithShape="1">
          <a:blip r:embed="rId3">
            <a:alphaModFix/>
          </a:blip>
          <a:srcRect b="0" l="8601" r="0" t="70843"/>
          <a:stretch/>
        </p:blipFill>
        <p:spPr>
          <a:xfrm>
            <a:off x="0" y="2059100"/>
            <a:ext cx="6184076" cy="3051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9"/>
          <p:cNvSpPr txBox="1"/>
          <p:nvPr>
            <p:ph type="ctrTitle"/>
          </p:nvPr>
        </p:nvSpPr>
        <p:spPr>
          <a:xfrm>
            <a:off x="351100" y="236323"/>
            <a:ext cx="399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Выводы и результаты</a:t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454775" y="794924"/>
            <a:ext cx="6791325" cy="3860203"/>
          </a:xfrm>
          <a:custGeom>
            <a:rect b="b" l="l" r="r" t="t"/>
            <a:pathLst>
              <a:path extrusionOk="0" h="3401060" w="6791325">
                <a:moveTo>
                  <a:pt x="0" y="373237"/>
                </a:moveTo>
                <a:lnTo>
                  <a:pt x="2908" y="326419"/>
                </a:lnTo>
                <a:lnTo>
                  <a:pt x="11399" y="281336"/>
                </a:lnTo>
                <a:lnTo>
                  <a:pt x="25123" y="238339"/>
                </a:lnTo>
                <a:lnTo>
                  <a:pt x="43730" y="197776"/>
                </a:lnTo>
                <a:lnTo>
                  <a:pt x="66871" y="159999"/>
                </a:lnTo>
                <a:lnTo>
                  <a:pt x="94196" y="125355"/>
                </a:lnTo>
                <a:lnTo>
                  <a:pt x="125355" y="94196"/>
                </a:lnTo>
                <a:lnTo>
                  <a:pt x="159999" y="66871"/>
                </a:lnTo>
                <a:lnTo>
                  <a:pt x="197776" y="43730"/>
                </a:lnTo>
                <a:lnTo>
                  <a:pt x="238339" y="25123"/>
                </a:lnTo>
                <a:lnTo>
                  <a:pt x="281336" y="11399"/>
                </a:lnTo>
                <a:lnTo>
                  <a:pt x="326419" y="2908"/>
                </a:lnTo>
                <a:lnTo>
                  <a:pt x="373237" y="0"/>
                </a:lnTo>
                <a:lnTo>
                  <a:pt x="6417562" y="0"/>
                </a:lnTo>
                <a:lnTo>
                  <a:pt x="6466622" y="3236"/>
                </a:lnTo>
                <a:lnTo>
                  <a:pt x="6514425" y="12787"/>
                </a:lnTo>
                <a:lnTo>
                  <a:pt x="6560393" y="28411"/>
                </a:lnTo>
                <a:lnTo>
                  <a:pt x="6603945" y="49867"/>
                </a:lnTo>
                <a:lnTo>
                  <a:pt x="6644501" y="76917"/>
                </a:lnTo>
                <a:lnTo>
                  <a:pt x="6681481" y="109318"/>
                </a:lnTo>
                <a:lnTo>
                  <a:pt x="6713882" y="146298"/>
                </a:lnTo>
                <a:lnTo>
                  <a:pt x="6740932" y="186853"/>
                </a:lnTo>
                <a:lnTo>
                  <a:pt x="6762388" y="230405"/>
                </a:lnTo>
                <a:lnTo>
                  <a:pt x="6778012" y="276373"/>
                </a:lnTo>
                <a:lnTo>
                  <a:pt x="6787563" y="324177"/>
                </a:lnTo>
                <a:lnTo>
                  <a:pt x="6790799" y="373237"/>
                </a:lnTo>
                <a:lnTo>
                  <a:pt x="6790799" y="3027561"/>
                </a:lnTo>
                <a:lnTo>
                  <a:pt x="6787891" y="3074380"/>
                </a:lnTo>
                <a:lnTo>
                  <a:pt x="6779400" y="3119462"/>
                </a:lnTo>
                <a:lnTo>
                  <a:pt x="6765676" y="3162460"/>
                </a:lnTo>
                <a:lnTo>
                  <a:pt x="6747069" y="3203023"/>
                </a:lnTo>
                <a:lnTo>
                  <a:pt x="6723928" y="3240800"/>
                </a:lnTo>
                <a:lnTo>
                  <a:pt x="6696603" y="3275444"/>
                </a:lnTo>
                <a:lnTo>
                  <a:pt x="6665444" y="3306603"/>
                </a:lnTo>
                <a:lnTo>
                  <a:pt x="6630801" y="3333928"/>
                </a:lnTo>
                <a:lnTo>
                  <a:pt x="6593023" y="3357069"/>
                </a:lnTo>
                <a:lnTo>
                  <a:pt x="6552460" y="3375676"/>
                </a:lnTo>
                <a:lnTo>
                  <a:pt x="6509463" y="3389400"/>
                </a:lnTo>
                <a:lnTo>
                  <a:pt x="6464380" y="3397891"/>
                </a:lnTo>
                <a:lnTo>
                  <a:pt x="6417562" y="3400799"/>
                </a:lnTo>
                <a:lnTo>
                  <a:pt x="373237" y="3400799"/>
                </a:lnTo>
                <a:lnTo>
                  <a:pt x="326419" y="3397891"/>
                </a:lnTo>
                <a:lnTo>
                  <a:pt x="281336" y="3389400"/>
                </a:lnTo>
                <a:lnTo>
                  <a:pt x="238339" y="3375676"/>
                </a:lnTo>
                <a:lnTo>
                  <a:pt x="197776" y="3357069"/>
                </a:lnTo>
                <a:lnTo>
                  <a:pt x="159999" y="3333928"/>
                </a:lnTo>
                <a:lnTo>
                  <a:pt x="125355" y="3306603"/>
                </a:lnTo>
                <a:lnTo>
                  <a:pt x="94196" y="3275444"/>
                </a:lnTo>
                <a:lnTo>
                  <a:pt x="66871" y="3240800"/>
                </a:lnTo>
                <a:lnTo>
                  <a:pt x="43730" y="3203023"/>
                </a:lnTo>
                <a:lnTo>
                  <a:pt x="25123" y="3162460"/>
                </a:lnTo>
                <a:lnTo>
                  <a:pt x="11399" y="3119462"/>
                </a:lnTo>
                <a:lnTo>
                  <a:pt x="2908" y="3074380"/>
                </a:lnTo>
                <a:lnTo>
                  <a:pt x="0" y="3027561"/>
                </a:lnTo>
                <a:lnTo>
                  <a:pt x="0" y="373237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 txBox="1"/>
          <p:nvPr/>
        </p:nvSpPr>
        <p:spPr>
          <a:xfrm>
            <a:off x="681950" y="948021"/>
            <a:ext cx="6164700" cy="3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Основная проблема — высокие издержки на логистику из-за отказов клиентов (наложенный платеж используется в &gt;95% случаев).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Результаты моделирования: Разработанная модель на базе CatBoost позволяет идентифицировать 65% потенциальных отказов. При наличии системы скоринга компания могла предотвратить до 5,04 млн руб. прямых убытков.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Анализ показал, что 98% всех потерь генерируется при выборе наложенного платежа. При этом относительный анализ выявил, что менеджеры с самыми высокими суммами убытков (ID 1, ID 29) работают эффективнее среднего уровня, а основная проблема кроется в «остывании» клиентов.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9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2026-04-11T10:44:43Z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2026-04-11T00:00:00Z</vt:filetime>
  </property>
  <property fmtid="{D5CDD505-2E9C-101B-9397-08002B2CF9AE}" pid="3" name="Creator">
    <vt:lpwstr>Google</vt:lpwstr>
  </property>
  <property fmtid="{D5CDD505-2E9C-101B-9397-08002B2CF9AE}" pid="4" name="LastSaved">
    <vt:filetime>2026-04-11T00:00:00Z</vt:filetime>
  </property>
</Properties>
</file>